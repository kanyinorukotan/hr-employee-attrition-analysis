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085"/>
              </a:solidFill>
              <a:effectLst/>
            </c:spPr>
          </c:dPt>
          <c:dPt>
            <c:idx val="1"/>
            <c:bubble3D val="0"/>
            <c:spPr>
              <a:solidFill>
                <a:srgbClr val="E76F51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7324D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7324D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Stayed</c:v>
                </c:pt>
                <c:pt idx="1">
                  <c:v>Left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3053</c:v>
                </c:pt>
                <c:pt idx="1">
                  <c:v>1600</c:v>
                </c:pt>
              </c:numCache>
            </c:numRef>
          </c:val>
        </c:ser>
        <c:firstSliceAng val="0"/>
        <c:holeSize val="68"/>
      </c:doughnutChart>
      <c:spPr>
        <a:noFill/>
        <a:ln w="12700" cap="flat">
          <a:solidFill>
            <a:srgbClr val="F6F8FB"/>
          </a:solidFill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Pune</c:v>
                  </c:pt>
                  <c:pt idx="1">
                    <c:v>New Delhi</c:v>
                  </c:pt>
                  <c:pt idx="2">
                    <c:v>Bangalore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50.39</c:v>
                </c:pt>
                <c:pt idx="1">
                  <c:v>31.63</c:v>
                </c:pt>
                <c:pt idx="2">
                  <c:v>26.71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 w="12700" cap="flat">
          <a:solidFill>
            <a:srgbClr val="F6F8FB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</c:v>
                </c:pt>
              </c:strCache>
            </c:strRef>
          </c:tx>
          <c:spPr>
            <a:solidFill>
              <a:srgbClr val="F39C5A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Tier 2</c:v>
                  </c:pt>
                  <c:pt idx="1">
                    <c:v>Tier 1</c:v>
                  </c:pt>
                  <c:pt idx="2">
                    <c:v>Tier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59.91</c:v>
                </c:pt>
                <c:pt idx="1">
                  <c:v>36.63</c:v>
                </c:pt>
                <c:pt idx="2">
                  <c:v>27.52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 w="12700" cap="flat">
          <a:solidFill>
            <a:srgbClr val="F6F8FB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 w="12700" cap="flat">
          <a:solidFill>
            <a:srgbClr val="F6F8FB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chart" Target="..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57218a539f.png"/>
          <p:cNvPicPr>
            <a:picLocks noChangeAspect="1"/>
          </p:cNvPicPr>
          <p:nvPr/>
        </p:nvPicPr>
        <p:blipFill>
          <a:blip r:embed="rId3"/>
          <a:srcRect l="25185" r="25185"/>
          <a:stretch>
            <a:fillRect/>
          </a:stretch>
        </p:blipFill>
        <p:spPr>
          <a:xfrm>
            <a:off x="7086600" y="0"/>
            <a:ext cx="5105400" cy="6858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086600" y="0"/>
            <a:ext cx="5105400" cy="6858000"/>
          </a:xfrm>
          <a:prstGeom prst="rect">
            <a:avLst/>
          </a:prstGeom>
          <a:solidFill>
            <a:srgbClr val="091F32">
              <a:alpha val="7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22592" y="0"/>
            <a:ext cx="64008" cy="6858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8732520" y="502920"/>
            <a:ext cx="2743200" cy="2743200"/>
          </a:xfrm>
          <a:prstGeom prst="ellipse">
            <a:avLst/>
          </a:prstGeom>
          <a:solidFill>
            <a:srgbClr val="16A085">
              <a:alpha val="82000"/>
            </a:srgbClr>
          </a:solidFill>
          <a:ln w="12700">
            <a:solidFill>
              <a:srgbClr val="16A08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326880" y="3977640"/>
            <a:ext cx="2377440" cy="2377440"/>
          </a:xfrm>
          <a:prstGeom prst="ellipse">
            <a:avLst/>
          </a:prstGeom>
          <a:solidFill>
            <a:srgbClr val="F39C5A">
              <a:alpha val="78000"/>
            </a:srgbClr>
          </a:solidFill>
          <a:ln w="12700">
            <a:solidFill>
              <a:srgbClr val="F39C5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85800" y="1344168"/>
            <a:ext cx="6949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HR Employee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Attrition Analysis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13232" y="3090672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6EF"/>
                </a:solidFill>
              </a:rPr>
              <a:t>Using MySQL to identify workforce groups associated with higher employee turnover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13232" y="4005072"/>
            <a:ext cx="1920240" cy="36576"/>
          </a:xfrm>
          <a:prstGeom prst="rect">
            <a:avLst/>
          </a:prstGeom>
          <a:solidFill>
            <a:srgbClr val="50B8A5"/>
          </a:solidFill>
          <a:ln w="12700">
            <a:solidFill>
              <a:srgbClr val="50B8A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4215384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AD7"/>
                </a:solidFill>
              </a:rPr>
              <a:t>Portfolio Project  |  4,653 employee records  |  10 business questions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604418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Orukotan Kanyin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3232" y="63825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AD7"/>
                </a:solidFill>
              </a:rPr>
              <a:t>October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56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HR ATTRITION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372600" y="256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MYSQL PORTFOLIO PROJECT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83112" cy="9144"/>
          </a:xfrm>
          <a:prstGeom prst="rect">
            <a:avLst/>
          </a:prstGeom>
          <a:solidFill>
            <a:srgbClr val="D9E0E7"/>
          </a:solidFill>
          <a:ln w="12700">
            <a:solidFill>
              <a:srgbClr val="D9E0E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5653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Orukotan Kanyin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overview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66928" y="111556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7080"/>
                </a:solidFill>
              </a:rPr>
              <a:t>A focused HR analytics case study built from a structured employee dataset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1664208"/>
            <a:ext cx="2468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94360" y="1664208"/>
            <a:ext cx="73152" cy="1143000"/>
          </a:xfrm>
          <a:prstGeom prst="rect">
            <a:avLst/>
          </a:prstGeom>
          <a:solidFill>
            <a:srgbClr val="4C78A8"/>
          </a:solidFill>
          <a:ln w="12700">
            <a:solidFill>
              <a:srgbClr val="4C78A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50392" y="1828800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</a:rPr>
              <a:t>4,653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50392" y="2359152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080"/>
                </a:solidFill>
              </a:rPr>
              <a:t>Employee records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1664208"/>
            <a:ext cx="2468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246120" y="1664208"/>
            <a:ext cx="73152" cy="1143000"/>
          </a:xfrm>
          <a:prstGeom prst="rect">
            <a:avLst/>
          </a:prstGeom>
          <a:solidFill>
            <a:srgbClr val="8E6CBE"/>
          </a:solidFill>
          <a:ln w="12700">
            <a:solidFill>
              <a:srgbClr val="8E6CBE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502152" y="1828800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</a:rPr>
              <a:t>9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3502152" y="2359152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080"/>
                </a:solidFill>
              </a:rPr>
              <a:t>Dataset fields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97880" y="1664208"/>
            <a:ext cx="2468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897880" y="1664208"/>
            <a:ext cx="73152" cy="1143000"/>
          </a:xfrm>
          <a:prstGeom prst="rect">
            <a:avLst/>
          </a:prstGeom>
          <a:solidFill>
            <a:srgbClr val="F39C5A"/>
          </a:solidFill>
          <a:ln w="12700">
            <a:solidFill>
              <a:srgbClr val="F39C5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153912" y="1828800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</a:rPr>
              <a:t>10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6153912" y="2359152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080"/>
                </a:solidFill>
              </a:rPr>
              <a:t>Business questions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549640" y="1664208"/>
            <a:ext cx="2468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8549640" y="1664208"/>
            <a:ext cx="73152" cy="114300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805672" y="1828800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</a:rPr>
              <a:t>0</a:t>
            </a:r>
            <a:endParaRPr lang="en-US" sz="2500" dirty="0"/>
          </a:p>
        </p:txBody>
      </p:sp>
      <p:sp>
        <p:nvSpPr>
          <p:cNvPr id="24" name="Text 22"/>
          <p:cNvSpPr/>
          <p:nvPr/>
        </p:nvSpPr>
        <p:spPr>
          <a:xfrm>
            <a:off x="8805672" y="2359152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080"/>
                </a:solidFill>
              </a:rPr>
              <a:t>Missing values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" y="3182112"/>
            <a:ext cx="52578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50392" y="34472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Business problem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50392" y="3886200"/>
            <a:ext cx="452628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HR needs to understand which employee characteristics are associated with higher attrition so retention efforts can be prioritised.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50392" y="50749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</a:rPr>
              <a:t>Outcome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627632" y="50292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7080"/>
                </a:solidFill>
              </a:rPr>
              <a:t>A clear set of evidence-based findings and cautious recommendations.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72200" y="3182112"/>
            <a:ext cx="5093208" cy="2423160"/>
          </a:xfrm>
          <a:prstGeom prst="roundRect">
            <a:avLst/>
          </a:prstGeom>
          <a:solidFill>
            <a:srgbClr val="E8F5F2"/>
          </a:solidFill>
          <a:ln w="12700">
            <a:solidFill>
              <a:srgbClr val="CDE9E2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446520" y="34472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Tools and workflow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473952" y="3913632"/>
            <a:ext cx="182880" cy="18288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784848" y="38587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746"/>
                </a:solidFill>
              </a:rPr>
              <a:t>Import CSV into MySQL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73952" y="4224528"/>
            <a:ext cx="182880" cy="18288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784848" y="41696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746"/>
                </a:solidFill>
              </a:rPr>
              <a:t>Inspect and clean data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73952" y="4535424"/>
            <a:ext cx="182880" cy="18288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784848" y="44805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746"/>
                </a:solidFill>
              </a:rPr>
              <a:t>Calculate attrition KPIs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73952" y="4846320"/>
            <a:ext cx="182880" cy="18288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784848" y="47914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746"/>
                </a:solidFill>
              </a:rPr>
              <a:t>Compare employee segments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73952" y="5157216"/>
            <a:ext cx="182880" cy="18288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784848" y="51023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746"/>
                </a:solidFill>
              </a:rPr>
              <a:t>Translate results into HR insights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56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HR ATTRITION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372600" y="256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MYSQL PORTFOLIO PROJECT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83112" cy="9144"/>
          </a:xfrm>
          <a:prstGeom prst="rect">
            <a:avLst/>
          </a:prstGeom>
          <a:solidFill>
            <a:srgbClr val="D9E0E7"/>
          </a:solidFill>
          <a:ln w="12700">
            <a:solidFill>
              <a:srgbClr val="D9E0E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5653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Orukotan Kanyin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Overall attrition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66928" y="111556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7080"/>
                </a:solidFill>
              </a:rPr>
              <a:t>More than one in three employee records are marked as having left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1572768"/>
            <a:ext cx="29260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40080" y="1572768"/>
            <a:ext cx="73152" cy="12801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96112" y="1737360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</a:rPr>
              <a:t>34.39%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96112" y="2267712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080"/>
                </a:solidFill>
              </a:rPr>
              <a:t>Overall attrition rate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090672"/>
            <a:ext cx="29260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0080" y="3090672"/>
            <a:ext cx="73152" cy="1280160"/>
          </a:xfrm>
          <a:prstGeom prst="rect">
            <a:avLst/>
          </a:prstGeom>
          <a:solidFill>
            <a:srgbClr val="F39C5A"/>
          </a:solidFill>
          <a:ln w="12700">
            <a:solidFill>
              <a:srgbClr val="F39C5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96112" y="3255264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</a:rPr>
              <a:t>1,600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896112" y="3785616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080"/>
                </a:solidFill>
              </a:rPr>
              <a:t>Employees who left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608576"/>
            <a:ext cx="29260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080" y="4608576"/>
            <a:ext cx="73152" cy="128016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96112" y="4773168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</a:rPr>
              <a:t>3,053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896112" y="530352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080"/>
                </a:solidFill>
              </a:rPr>
              <a:t>Employees who stayed</a:t>
            </a:r>
            <a:endParaRPr lang="en-US" sz="11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160520" y="1481328"/>
          <a:ext cx="40690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8549640" y="1709928"/>
            <a:ext cx="2834640" cy="3310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8842248" y="19933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What this means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8842248" y="2551176"/>
            <a:ext cx="2121408" cy="1664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The baseline attrition rate is high enough to justify deeper segmentation. The next step is to identify where the strongest differences appear.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842248" y="44074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76F51"/>
                </a:solidFill>
              </a:rPr>
              <a:t>Key KPI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9646920" y="42976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6F51"/>
                </a:solidFill>
              </a:rPr>
              <a:t>34.39%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56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HR ATTRITION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372600" y="256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MYSQL PORTFOLIO PROJECT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83112" cy="9144"/>
          </a:xfrm>
          <a:prstGeom prst="rect">
            <a:avLst/>
          </a:prstGeom>
          <a:solidFill>
            <a:srgbClr val="D9E0E7"/>
          </a:solidFill>
          <a:ln w="12700">
            <a:solidFill>
              <a:srgbClr val="D9E0E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5653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Orukotan Kanyin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attrition is concentrated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66928" y="111556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7080"/>
                </a:solidFill>
              </a:rPr>
              <a:t>Location and payment tier show some of the largest differences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8368" y="14904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Attrition rate by city</a:t>
            </a:r>
            <a:endParaRPr lang="en-US" sz="17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21792" y="1847088"/>
          <a:ext cx="525780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6309360" y="14904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Attrition rate by payment tier</a:t>
            </a:r>
            <a:endParaRPr lang="en-US" sz="170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6263640" y="1847088"/>
          <a:ext cx="525780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Shape 9"/>
          <p:cNvSpPr/>
          <p:nvPr/>
        </p:nvSpPr>
        <p:spPr>
          <a:xfrm>
            <a:off x="658368" y="5504688"/>
            <a:ext cx="10835640" cy="658368"/>
          </a:xfrm>
          <a:prstGeom prst="roundRect">
            <a:avLst/>
          </a:prstGeom>
          <a:solidFill>
            <a:srgbClr val="FFF4EC"/>
          </a:solidFill>
          <a:ln w="12700">
            <a:solidFill>
              <a:srgbClr val="F8D4B9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886968" y="5687568"/>
            <a:ext cx="10378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43746"/>
                </a:solidFill>
              </a:rPr>
              <a:t>Priority signal: Pune has 50.39% attrition, while Payment Tier 2 reaches 59.91%. These groups merit deeper investigation, but the analysis does not establish cause.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56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HR ATTRITION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372600" y="256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MYSQL PORTFOLIO PROJECT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83112" cy="9144"/>
          </a:xfrm>
          <a:prstGeom prst="rect">
            <a:avLst/>
          </a:prstGeom>
          <a:solidFill>
            <a:srgbClr val="D9E0E7"/>
          </a:solidFill>
          <a:ln w="12700">
            <a:solidFill>
              <a:srgbClr val="D9E0E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5653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Orukotan Kanyin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Workforce attributes linked with higher attrition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66928" y="111556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7080"/>
                </a:solidFill>
              </a:rPr>
              <a:t>Several employee groups stand well above the company-wide baseline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1645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Previously benched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9751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080"/>
                </a:solidFill>
              </a:rPr>
              <a:t>vs 33.13% never benched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71800" y="1645920"/>
            <a:ext cx="6720840" cy="438912"/>
          </a:xfrm>
          <a:prstGeom prst="round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971800" y="1645920"/>
            <a:ext cx="4694248" cy="438912"/>
          </a:xfrm>
          <a:prstGeom prst="roundRect">
            <a:avLst/>
          </a:prstGeom>
          <a:solidFill>
            <a:srgbClr val="8E6CBE"/>
          </a:solidFill>
          <a:ln w="12700">
            <a:solidFill>
              <a:srgbClr val="8E6CBE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527641" y="1563624"/>
            <a:ext cx="22860" cy="612648"/>
          </a:xfrm>
          <a:prstGeom prst="rect">
            <a:avLst/>
          </a:prstGeom>
          <a:solidFill>
            <a:srgbClr val="17324D">
              <a:alpha val="90000"/>
            </a:srgbClr>
          </a:solidFill>
          <a:ln w="12700">
            <a:solidFill>
              <a:srgbClr val="17324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893808" y="16002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E6CBE"/>
                </a:solidFill>
              </a:rPr>
              <a:t>45.40%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27614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Female category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30906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080"/>
                </a:solidFill>
              </a:rPr>
              <a:t>vs 25.77% male category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71800" y="2761488"/>
            <a:ext cx="6720840" cy="438912"/>
          </a:xfrm>
          <a:prstGeom prst="round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2971800" y="2761488"/>
            <a:ext cx="4875194" cy="438912"/>
          </a:xfrm>
          <a:prstGeom prst="round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527641" y="2679192"/>
            <a:ext cx="22860" cy="612648"/>
          </a:xfrm>
          <a:prstGeom prst="rect">
            <a:avLst/>
          </a:prstGeom>
          <a:solidFill>
            <a:srgbClr val="17324D">
              <a:alpha val="90000"/>
            </a:srgbClr>
          </a:solidFill>
          <a:ln w="12700">
            <a:solidFill>
              <a:srgbClr val="17324D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893808" y="2715768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76F51"/>
                </a:solidFill>
              </a:rPr>
              <a:t>47.15%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" y="38770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Master’s degree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4206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080"/>
                </a:solidFill>
              </a:rPr>
              <a:t>vs 31.35% Bachelor’s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971800" y="3877056"/>
            <a:ext cx="6720840" cy="438912"/>
          </a:xfrm>
          <a:prstGeom prst="round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2971800" y="3877056"/>
            <a:ext cx="5045800" cy="438912"/>
          </a:xfrm>
          <a:prstGeom prst="roundRect">
            <a:avLst/>
          </a:prstGeom>
          <a:solidFill>
            <a:srgbClr val="4C78A8"/>
          </a:solidFill>
          <a:ln w="12700">
            <a:solidFill>
              <a:srgbClr val="4C78A8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527641" y="3794760"/>
            <a:ext cx="22860" cy="612648"/>
          </a:xfrm>
          <a:prstGeom prst="rect">
            <a:avLst/>
          </a:prstGeom>
          <a:solidFill>
            <a:srgbClr val="17324D">
              <a:alpha val="90000"/>
            </a:srgbClr>
          </a:solidFill>
          <a:ln w="12700">
            <a:solidFill>
              <a:srgbClr val="17324D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893808" y="3831336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4C78A8"/>
                </a:solidFill>
              </a:rPr>
              <a:t>48.80%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5800" y="49926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Under 25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5800" y="53218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080"/>
                </a:solidFill>
              </a:rPr>
              <a:t>vs 34.79% ages 25–30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971800" y="4992624"/>
            <a:ext cx="6720840" cy="438912"/>
          </a:xfrm>
          <a:prstGeom prst="round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2971800" y="4992624"/>
            <a:ext cx="4032504" cy="438912"/>
          </a:xfrm>
          <a:prstGeom prst="roundRect">
            <a:avLst/>
          </a:prstGeom>
          <a:solidFill>
            <a:srgbClr val="F39C5A"/>
          </a:solidFill>
          <a:ln w="12700">
            <a:solidFill>
              <a:srgbClr val="F39C5A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6527641" y="4910328"/>
            <a:ext cx="22860" cy="612648"/>
          </a:xfrm>
          <a:prstGeom prst="rect">
            <a:avLst/>
          </a:prstGeom>
          <a:solidFill>
            <a:srgbClr val="17324D">
              <a:alpha val="90000"/>
            </a:srgbClr>
          </a:solidFill>
          <a:ln w="12700">
            <a:solidFill>
              <a:srgbClr val="17324D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9893808" y="4946904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39C5A"/>
                </a:solidFill>
              </a:rPr>
              <a:t>39.00%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726680" y="6080760"/>
            <a:ext cx="3108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07080"/>
                </a:solidFill>
              </a:rPr>
              <a:t>Dashed line = overall attrition rate (34.39%)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56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HR ATTRITION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372600" y="256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MYSQL PORTFOLIO PROJECT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83112" cy="9144"/>
          </a:xfrm>
          <a:prstGeom prst="rect">
            <a:avLst/>
          </a:prstGeom>
          <a:solidFill>
            <a:srgbClr val="D9E0E7"/>
          </a:solidFill>
          <a:ln w="12700">
            <a:solidFill>
              <a:srgbClr val="D9E0E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5653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Orukotan Kanyin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 and joining-year patterns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66928" y="111556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7080"/>
                </a:solidFill>
              </a:rPr>
              <a:t>The youngest age group is elevated, while the 2018 cohort is an extreme outlier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14813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Age-group attrition rate</a:t>
            </a:r>
            <a:endParaRPr lang="en-US" sz="17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94360" y="1847088"/>
          <a:ext cx="589788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6839712" y="1600200"/>
            <a:ext cx="4517136" cy="3584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168896" y="190195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2018 joining cohort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7168896" y="2459736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E76F51"/>
                </a:solidFill>
              </a:rPr>
              <a:t>98.64%</a:t>
            </a:r>
            <a:endParaRPr lang="en-US" sz="3900" dirty="0"/>
          </a:p>
        </p:txBody>
      </p:sp>
      <p:sp>
        <p:nvSpPr>
          <p:cNvPr id="14" name="Text 11"/>
          <p:cNvSpPr/>
          <p:nvPr/>
        </p:nvSpPr>
        <p:spPr>
          <a:xfrm>
            <a:off x="7168896" y="32461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362 of 367 employees left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168896" y="3785616"/>
            <a:ext cx="3520440" cy="9144"/>
          </a:xfrm>
          <a:prstGeom prst="rect">
            <a:avLst/>
          </a:prstGeom>
          <a:solidFill>
            <a:srgbClr val="DDE4EA"/>
          </a:solidFill>
          <a:ln w="12700">
            <a:solidFill>
              <a:srgbClr val="DDE4EA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168896" y="4041648"/>
            <a:ext cx="3429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7080"/>
                </a:solidFill>
              </a:rPr>
              <a:t>This unusually high result may reflect a cohort-specific event or dataset feature. It should be validated before action is taken.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94944" y="55778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085"/>
                </a:solidFill>
              </a:rPr>
              <a:t>Interpretation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700784" y="55321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243746"/>
                </a:solidFill>
              </a:rPr>
              <a:t>Attrition generally decreases across older age groups, but the pattern is descriptive rather than causal.</a:t>
            </a:r>
            <a:endParaRPr lang="en-US" sz="12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56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HR ATTRITION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372600" y="256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MYSQL PORTFOLIO PROJECT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83112" cy="9144"/>
          </a:xfrm>
          <a:prstGeom prst="rect">
            <a:avLst/>
          </a:prstGeom>
          <a:solidFill>
            <a:srgbClr val="D9E0E7"/>
          </a:solidFill>
          <a:ln w="12700">
            <a:solidFill>
              <a:srgbClr val="D9E0E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5653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Orukotan Kanyin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Recommendations and limitations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66928" y="111556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7080"/>
                </a:solidFill>
              </a:rPr>
              <a:t>Translate the analysis into targeted next steps without overstating what the data proves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" y="1572768"/>
            <a:ext cx="5212080" cy="1664208"/>
          </a:xfrm>
          <a:prstGeom prst="roundRect">
            <a:avLst/>
          </a:prstGeom>
          <a:solidFill>
            <a:srgbClr val="E8F5F2"/>
          </a:solidFill>
          <a:ln w="12700">
            <a:solidFill>
              <a:srgbClr val="BFE3D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14400" y="1828800"/>
            <a:ext cx="502920" cy="50292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18836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91056" y="18013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Investigate priority segments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91056" y="2231136"/>
            <a:ext cx="3794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Run interviews or surveys focused on Pune, Payment Tier 2, previously benched employees and the 2018 cohort.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90488" y="1572768"/>
            <a:ext cx="521208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446520" y="1828800"/>
            <a:ext cx="502920" cy="502920"/>
          </a:xfrm>
          <a:prstGeom prst="ellipse">
            <a:avLst/>
          </a:prstGeom>
          <a:solidFill>
            <a:srgbClr val="8E6CBE"/>
          </a:solidFill>
          <a:ln w="12700">
            <a:solidFill>
              <a:srgbClr val="8E6CB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46520" y="18836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23176" y="18013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Review the bench experience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23176" y="2231136"/>
            <a:ext cx="3794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Assess project allocation, time on bench, manager communication and development opportunities.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8368" y="3648456"/>
            <a:ext cx="521208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14400" y="3904488"/>
            <a:ext cx="502920" cy="502920"/>
          </a:xfrm>
          <a:prstGeom prst="ellipse">
            <a:avLst/>
          </a:prstGeom>
          <a:solidFill>
            <a:srgbClr val="F39C5A"/>
          </a:solidFill>
          <a:ln w="12700">
            <a:solidFill>
              <a:srgbClr val="F39C5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14400" y="39593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91056" y="387705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Strengthen early-career retention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91056" y="4306824"/>
            <a:ext cx="3794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Create onboarding, mentoring and clearer progression plans for younger employees.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90488" y="3648456"/>
            <a:ext cx="521208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446520" y="3904488"/>
            <a:ext cx="502920" cy="502920"/>
          </a:xfrm>
          <a:prstGeom prst="ellipse">
            <a:avLst/>
          </a:prstGeom>
          <a:solidFill>
            <a:srgbClr val="4C78A8"/>
          </a:solidFill>
          <a:ln w="12700">
            <a:solidFill>
              <a:srgbClr val="4C78A8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46520" y="39593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23176" y="387705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Validate before intervention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23176" y="4306824"/>
            <a:ext cx="3794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Combine these results with role, salary, manager, performance, tenure and exit-reason data.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58368" y="5705856"/>
            <a:ext cx="10744200" cy="502920"/>
          </a:xfrm>
          <a:prstGeom prst="roundRect">
            <a:avLst/>
          </a:prstGeom>
          <a:solidFill>
            <a:srgbClr val="FFF5F2"/>
          </a:solidFill>
          <a:ln w="12700">
            <a:solidFill>
              <a:srgbClr val="F5CFC5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86968" y="5861304"/>
            <a:ext cx="10287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243746"/>
                </a:solidFill>
              </a:rPr>
              <a:t>Limitation: the dataset identifies associations, not causes. It also lacks employee IDs, roles, actual salary, managers, performance and reasons for leaving.</a:t>
            </a:r>
            <a:endParaRPr lang="en-US" sz="11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Portfolio Project</Company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HR Employee Attrition Analysis</dc:title>
  <dc:subject>HR Employee Attrition Analysis Using MySQL</dc:subject>
  <dc:creator>Hailey Miller</dc:creator>
  <lastModifiedBy>Hailey Miller</lastModifiedBy>
  <revision>1</revision>
  <dcterms:created xsi:type="dcterms:W3CDTF">2026-10-02T19:09:26.6261006Z</dcterms:created>
  <dcterms:modified xsi:type="dcterms:W3CDTF">2026-10-02T19:09:26.6261006Z</dcterms:modified>
</coreProperties>
</file>